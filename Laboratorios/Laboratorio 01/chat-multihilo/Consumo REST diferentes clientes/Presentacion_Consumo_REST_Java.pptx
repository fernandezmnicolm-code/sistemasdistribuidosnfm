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19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40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DISTRIBUIDOS · JAVA + LARAVEL REST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7F2"/>
                </a:solidFill>
              </a:rPr>
              <a:t>EXPOSICIÓN DE CÓDIGO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Consumo de API REST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desde Java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3054096"/>
            <a:ext cx="3337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CEDD"/>
                </a:solidFill>
              </a:rPr>
              <a:t>Cliente Java en NetBeans conectado a una API REST desarrollada en Laravel.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468880" cy="256032"/>
          </a:xfrm>
          <a:prstGeom prst="roundRect">
            <a:avLst>
              <a:gd name="adj" fmla="val 25000"/>
            </a:avLst>
          </a:prstGeom>
          <a:solidFill>
            <a:srgbClr val="152B45"/>
          </a:solidFill>
          <a:ln w="12700">
            <a:solidFill>
              <a:srgbClr val="152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4018788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DBF7"/>
                </a:solidFill>
              </a:rPr>
              <a:t>LOGIN + CRUD DE PERSONAS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5989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A0B8"/>
                </a:solidFill>
              </a:rPr>
              <a:t>Sistemas Distribuidos · Gestión 2-2026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23560" y="640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Capas de la solución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715000" y="1353312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E84D5B"/>
          </a:solidFill>
          <a:ln w="12700">
            <a:solidFill>
              <a:srgbClr val="E84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0" y="14996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Interfaz Swing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011680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F0714E"/>
          </a:solidFill>
          <a:ln w="12700">
            <a:solidFill>
              <a:srgbClr val="F07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21579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 Java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2670048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28163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/ 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5000" y="3328416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F3C75B"/>
          </a:solidFill>
          <a:ln w="12700">
            <a:solidFill>
              <a:srgbClr val="F3C7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7880" y="34747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REST Laravel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15000" y="3986784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BCD85C"/>
          </a:solidFill>
          <a:ln w="12700">
            <a:solidFill>
              <a:srgbClr val="BCD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41330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Autenticación / Token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4645152"/>
            <a:ext cx="5212080" cy="530352"/>
          </a:xfrm>
          <a:prstGeom prst="roundRect">
            <a:avLst>
              <a:gd name="adj" fmla="val 5172"/>
            </a:avLst>
          </a:prstGeom>
          <a:solidFill>
            <a:srgbClr val="6BC4A3"/>
          </a:solidFill>
          <a:ln w="12700">
            <a:solidFill>
              <a:srgbClr val="6BC4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97880" y="4791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datos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realizamos?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general de la práctica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02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66420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Construir un cliente Java que consuma la API REST de Laravel.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34340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Iniciar sesión mediante la API.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 las personas registradas.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una nueva persona.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los datos de una persona.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una persona.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298448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0FBFE"/>
          </a:solidFill>
          <a:ln w="12700">
            <a:solidFill>
              <a:srgbClr val="BDECF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A95"/>
                </a:solidFill>
              </a:rPr>
              <a:t>Idea central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Java NO se conecta directamente a MySQL.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Java realiza peticiones HTTP a Laravel y recibe respuestas JSON.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20840" y="4069080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67728" y="4233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JAVA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4343400"/>
            <a:ext cx="1051560" cy="0"/>
          </a:xfrm>
          <a:prstGeom prst="line">
            <a:avLst/>
          </a:prstGeom>
          <a:noFill/>
          <a:ln w="25400">
            <a:solidFill>
              <a:srgbClr val="22C7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81160" y="4069080"/>
            <a:ext cx="1600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54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8048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A95"/>
                </a:solidFill>
              </a:rPr>
              <a:t>LARAVEL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“consumir REST”?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API puede ser utilizada por diferentes tipos de clientes.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03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09160" y="24688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74920" y="27066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REST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Laravel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17830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911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HTML + 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671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fetch()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JAVA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1330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Nuestro cliente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0" y="178308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3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0" y="1911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PHP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23960" y="21671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Cliente PHP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0" y="3749040"/>
            <a:ext cx="2011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0" y="3877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NODE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23960" y="41330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Cliente Node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2130552"/>
            <a:ext cx="1463040" cy="630936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3154680" y="3300984"/>
            <a:ext cx="1463040" cy="795528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>
            <a:off x="7543800" y="2130552"/>
            <a:ext cx="1097280" cy="630936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641080" y="4096512"/>
            <a:ext cx="0" cy="0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03120" y="5303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7A95"/>
                </a:solidFill>
              </a:rPr>
              <a:t>“Cliente” = aplicación que solicita datos o ejecuta operaciones sobre la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32F20B9E-88BF-3B91-C3E1-A2E74F5C527E}"/>
              </a:ext>
            </a:extLst>
          </p:cNvPr>
          <p:cNvSpPr/>
          <p:nvPr/>
        </p:nvSpPr>
        <p:spPr>
          <a:xfrm flipH="1" flipV="1">
            <a:off x="7543800" y="3172968"/>
            <a:ext cx="1097280" cy="960120"/>
          </a:xfrm>
          <a:prstGeom prst="line">
            <a:avLst/>
          </a:prstGeom>
          <a:noFill/>
          <a:ln w="25400">
            <a:solidFill>
              <a:srgbClr val="98A2B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flujo de la aplicación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la interfaz gráfica hasta la base de datos.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04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98448" y="2532888"/>
            <a:ext cx="603504" cy="603504"/>
          </a:xfrm>
          <a:prstGeom prst="ellipse">
            <a:avLst/>
          </a:prstGeom>
          <a:solidFill>
            <a:srgbClr val="69CFF2"/>
          </a:solidFill>
          <a:ln w="12700">
            <a:solidFill>
              <a:srgbClr val="69C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99032" y="2679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Interfaz Java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Formularios Swing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41648" y="2532888"/>
            <a:ext cx="603504" cy="603504"/>
          </a:xfrm>
          <a:prstGeom prst="ellipse">
            <a:avLst/>
          </a:prstGeom>
          <a:solidFill>
            <a:srgbClr val="A77CF3"/>
          </a:solidFill>
          <a:ln w="12700">
            <a:solidFill>
              <a:srgbClr val="A77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42232" y="2679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{}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5032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HTTP + 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GET · POST · PUT · DELETE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84848" y="2532888"/>
            <a:ext cx="603504" cy="603504"/>
          </a:xfrm>
          <a:prstGeom prst="ellipse">
            <a:avLst/>
          </a:prstGeom>
          <a:solidFill>
            <a:srgbClr val="F47F7F"/>
          </a:solidFill>
          <a:ln w="12700">
            <a:solidFill>
              <a:srgbClr val="F4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85432" y="2679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API Laravel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Procesa y valida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28048" y="2532888"/>
            <a:ext cx="603504" cy="603504"/>
          </a:xfrm>
          <a:prstGeom prst="ellipse">
            <a:avLst/>
          </a:prstGeom>
          <a:solidFill>
            <a:srgbClr val="3CCB7F"/>
          </a:solidFill>
          <a:ln w="12700">
            <a:solidFill>
              <a:srgbClr val="3CCB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28632" y="267919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MySQL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3493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Persistencia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0" y="2834640"/>
            <a:ext cx="1920240" cy="0"/>
          </a:xfrm>
          <a:prstGeom prst="line">
            <a:avLst/>
          </a:prstGeom>
          <a:noFill/>
          <a:ln w="25400">
            <a:solidFill>
              <a:srgbClr val="B9C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1920240" cy="0"/>
          </a:xfrm>
          <a:prstGeom prst="line">
            <a:avLst/>
          </a:prstGeom>
          <a:noFill/>
          <a:ln w="25400">
            <a:solidFill>
              <a:srgbClr val="B9C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0" y="2834640"/>
            <a:ext cx="1920240" cy="0"/>
          </a:xfrm>
          <a:prstGeom prst="line">
            <a:avLst/>
          </a:prstGeom>
          <a:noFill/>
          <a:ln w="25400">
            <a:solidFill>
              <a:srgbClr val="B9C2C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4846320"/>
            <a:ext cx="10424160" cy="749808"/>
          </a:xfrm>
          <a:prstGeom prst="roundRect">
            <a:avLst>
              <a:gd name="adj" fmla="val 9756"/>
            </a:avLst>
          </a:prstGeom>
          <a:solidFill>
            <a:srgbClr val="F0FBFE"/>
          </a:solidFill>
          <a:ln w="12700">
            <a:solidFill>
              <a:srgbClr val="BDEC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88720" y="50840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7A95"/>
                </a:solidFill>
              </a:rPr>
              <a:t>Importante: Java es el cliente. Laravel sigue siendo el servidor que expone la API REST.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del proyecto en NetBeans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 simple para explicar el código durante la exposición.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05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4892040" cy="4828032"/>
          </a:xfrm>
          <a:prstGeom prst="roundRect">
            <a:avLst>
              <a:gd name="adj" fmla="val 1515"/>
            </a:avLst>
          </a:prstGeom>
          <a:solidFill>
            <a:srgbClr val="FBFCFE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EleccionesClientes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938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16152" y="222199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com.sis258.eleccionesclientes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72184" y="2505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EleccionesClientes.java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16152" y="27889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72184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Persona.java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6152" y="33558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service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72184" y="3639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Api.java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72184" y="39227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AuthService.java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72184" y="42062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PersonaService.java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16152" y="44897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72184" y="4773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LoginFrame.java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72184" y="50566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PersonasFrame.java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5340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4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70448" y="1309878"/>
            <a:ext cx="5596128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¿Por qué separar los archivos?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263640" y="228600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DDF7FD"/>
          </a:solidFill>
          <a:ln w="12700">
            <a:solidFill>
              <a:srgbClr val="DDF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36792" y="232714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7A95"/>
                </a:solidFill>
              </a:rPr>
              <a:t>MODELO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80960" y="22951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Representa los datos de una persona.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10896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36792" y="315010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941C6"/>
                </a:solidFill>
              </a:rPr>
              <a:t>SERVICIOS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31181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Realizan las peticiones a la API.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393192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36792" y="397306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7647"/>
                </a:solidFill>
              </a:rPr>
              <a:t>INTERFAZ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0" y="39410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Muestra ventanas y recibe acciones del usuario.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75488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36792" y="479602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MAIN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47640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Inicia la aplicación.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5486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5715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función cumple cada archivo?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rápida para que cada integrante pueda explicar el proyecto.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06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1472184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3544" y="1513332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0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EleccionesClientes.java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Punto de entrada. Abre LoginFrame al iniciar el programa.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611112" y="1325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75704" y="1472184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48856" y="1513332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36992" y="14447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Persona.java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36992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Modelo que guarda los campos recibidos desde Laravel.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245059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0392" y="2596896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3544" y="263804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11680" y="2569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Api.java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Motor HTTP: arma las peticiones, adjunta token y convierte JSON.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11112" y="245059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75704" y="2596896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48856" y="2638044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SERVICIO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36992" y="2569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AuthService.java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36992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Envía correo/contraseña a /login y guarda el token.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357530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0392" y="3721608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13B981"/>
          </a:solidFill>
          <a:ln w="12700">
            <a:solidFill>
              <a:srgbClr val="13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3544" y="376275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SERVICIO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6941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PersonaService.java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11680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Contiene listar, crear, editar y eliminar personas.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11112" y="357530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75704" y="3721608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48856" y="376275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INTERFAZ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36992" y="36941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LoginFrame.java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36992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Ventana Swing que captura correo y contraseña.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47000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0392" y="4846320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23544" y="488746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INTERFAZ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11680" y="4818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PersonasFrame.java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11680" y="51114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Tabla y botones para el CRUD de Personas.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11112" y="47000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75704" y="4846320"/>
            <a:ext cx="960120" cy="256032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48856" y="4887468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36992" y="48188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pom.xml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36992" y="51114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Define proyecto Maven, versión de Java y dependencias.</a:t>
            </a:r>
            <a:endParaRPr lang="en-US" sz="9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Autenticación: login y token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valida al usuario; después se habilita el CRUD.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07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261872"/>
            <a:ext cx="4069080" cy="48006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90fa5020-3c32-47e2-9888-86b88dc470b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43356"/>
            <a:ext cx="3611880" cy="1953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160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1. LoginFrame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449884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Captura correo y contraseña y llama a AuthService.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74920" y="1572768"/>
            <a:ext cx="6035040" cy="2194560"/>
          </a:xfrm>
          <a:prstGeom prst="roundRect">
            <a:avLst>
              <a:gd name="adj" fmla="val 2083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02936" y="1682496"/>
            <a:ext cx="577900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JsonNode 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"/login"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datos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"token"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52120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2. AuthService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12080" y="4407408"/>
            <a:ext cx="54406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Envía las credenciales con POST.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valida el usuario.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devuelve un token.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Api.java añade el token a las siguientes peticiones.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de Personas: métodos REST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botón de la interfaz corresponde a una operación HTTP.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08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636776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67792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488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LISTAR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67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/api/personas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6243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Obtiene todos los registros.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1636776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13B981"/>
          </a:solidFill>
          <a:ln w="12700">
            <a:solidFill>
              <a:srgbClr val="13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167792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REGISTRAR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167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/api/personas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62432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Envía los datos de una nueva persona.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0120" y="4014216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405536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488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EDITAR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544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/api/personas/{id}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0017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Actualiza un registro existente.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46520" y="4014216"/>
            <a:ext cx="1005840" cy="256032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9672" y="405536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352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ELIMINAR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4544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7A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/api/personas/{id}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00176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Elimina el registro seleccionado.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Api.java: el motor HTTP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clase centraliza la comunicación entre Java y Laravel.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09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6035040" cy="4480560"/>
          </a:xfrm>
          <a:prstGeom prst="roundRect">
            <a:avLst>
              <a:gd name="adj" fmla="val 102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5256" y="1527048"/>
            <a:ext cx="5779008" cy="426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URL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"http://127.0.0.1:8000/api"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JsonNode pedir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metodo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ruta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cuerpo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construye la petición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añade Authorization: Bearer &lt;token&gt;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envía GET / POST / PUT / DELETE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convierte la respuesta JSON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7132320" y="141732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Funciones clave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0" y="2350008"/>
            <a:ext cx="256032" cy="256032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URL BASE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0956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Define dónde está la API Laravel.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321868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956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TOKEN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09560" y="34564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Se envía como Bearer para rutas protegidas.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0" y="40873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0956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HTTP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09560" y="43251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Envía la solicitud con HttpClient.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98080" y="4956048"/>
            <a:ext cx="256032" cy="256032"/>
          </a:xfrm>
          <a:prstGeom prst="ellipse">
            <a:avLst/>
          </a:prstGeom>
          <a:solidFill>
            <a:srgbClr val="13B981"/>
          </a:solidFill>
          <a:ln w="12700">
            <a:solidFill>
              <a:srgbClr val="13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0956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JSON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09560" y="51937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Jackson convierte texto JSON en JsonNode.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Demostración del programa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recomendada para mostrar el funcionamiento en vivo.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652760" y="2560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D0D5DD"/>
                </a:solidFill>
              </a:rPr>
              <a:t>10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64008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/mnt/data/df47e7e9-412c-42e9-bd0d-de0ef0f38aa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44624"/>
            <a:ext cx="6080760" cy="3416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80644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33488" y="1280160"/>
            <a:ext cx="4160520" cy="4937760"/>
          </a:xfrm>
          <a:prstGeom prst="roundRect">
            <a:avLst>
              <a:gd name="adj" fmla="val 1758"/>
            </a:avLst>
          </a:prstGeom>
          <a:solidFill>
            <a:srgbClr val="F9FAFB"/>
          </a:solidFill>
          <a:ln w="12700">
            <a:solidFill>
              <a:srgbClr val="D9DEE7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99248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Orden de la prueba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99248" y="2212848"/>
            <a:ext cx="329184" cy="329184"/>
          </a:xfrm>
          <a:prstGeom prst="ellipse">
            <a:avLst/>
          </a:prstGeom>
          <a:solidFill>
            <a:srgbClr val="0E172A"/>
          </a:solidFill>
          <a:ln w="12700">
            <a:solidFill>
              <a:srgbClr val="0E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63256" y="22860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183880" y="2240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033"/>
                </a:solidFill>
              </a:rPr>
              <a:t>Iniciar sesión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99248" y="2816352"/>
            <a:ext cx="329184" cy="329184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63256" y="2889504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183880" y="284378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Listar personas (GET)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99248" y="3419856"/>
            <a:ext cx="329184" cy="329184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63256" y="34930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183880" y="34472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Registrar persona (POST)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699248" y="4023360"/>
            <a:ext cx="329184" cy="329184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63256" y="4096512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183880" y="4050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Editar persona (PUT)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699248" y="4626864"/>
            <a:ext cx="329184" cy="329184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63256" y="4700016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183880" y="4654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Eliminar persona (DELETE)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699248" y="5230368"/>
            <a:ext cx="329184" cy="329184"/>
          </a:xfrm>
          <a:prstGeom prst="ellipse">
            <a:avLst/>
          </a:prstGeom>
          <a:solidFill>
            <a:srgbClr val="22C7F2"/>
          </a:solidFill>
          <a:ln w="1270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763256" y="530352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83880" y="5257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Recargar y comprobar cambios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290A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0570" y="4572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7F2"/>
                </a:solidFill>
              </a:rPr>
              <a:t>Cierre y cuestionario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1020" y="110109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2DAE7"/>
                </a:solidFill>
              </a:rPr>
              <a:t>Java puede consumir una API desarrollada en Laravel mediante HTTP y JSON. La práctica demuestra autenticación y operaciones CRUD sobre Personas.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58640" y="243840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172238"/>
          </a:solidFill>
          <a:ln w="19050">
            <a:solidFill>
              <a:srgbClr val="2A3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0120" y="2941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QR DEL CUESTIONARIO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81600" y="3535680"/>
            <a:ext cx="182880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5E70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82553F7-CADF-BE39-1338-CCD7B1D4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570" y="3676650"/>
            <a:ext cx="1546860" cy="1546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863</Words>
  <Application>Microsoft Office PowerPoint</Application>
  <PresentationFormat>Panorámica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Sistemas Distribuidos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Consumo de API REST desde Java</dc:title>
  <dc:subject>Consumo REST diferentes clientes - Java</dc:subject>
  <dc:creator>OpenAI</dc:creator>
  <cp:lastModifiedBy>Pedro Magne Ordoñez</cp:lastModifiedBy>
  <cp:revision>2</cp:revision>
  <dcterms:created xsi:type="dcterms:W3CDTF">2026-10-22T01:19:46Z</dcterms:created>
  <dcterms:modified xsi:type="dcterms:W3CDTF">2026-10-22T02:10:52Z</dcterms:modified>
</cp:coreProperties>
</file>